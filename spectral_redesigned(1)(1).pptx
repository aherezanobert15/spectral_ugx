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7C1C541-A2D4-4539-BB1F-0AFA1096AE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5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f5a623"/>
          </a:solidFill>
          <a:ln w="126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6583680" y="0"/>
            <a:ext cx="2559240" cy="5142600"/>
          </a:xfrm>
          <a:prstGeom prst="rect">
            <a:avLst/>
          </a:prstGeom>
          <a:solidFill>
            <a:srgbClr val="122255"/>
          </a:solidFill>
          <a:ln w="12600">
            <a:solidFill>
              <a:srgbClr val="1222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7040880" y="640080"/>
            <a:ext cx="1644840" cy="150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2"/>
          <p:cNvSpPr/>
          <p:nvPr/>
        </p:nvSpPr>
        <p:spPr>
          <a:xfrm>
            <a:off x="6629400" y="2194560"/>
            <a:ext cx="22849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a9bb5"/>
                </a:solidFill>
                <a:effectLst/>
                <a:uFillTx/>
                <a:latin typeface="Calibri"/>
                <a:ea typeface="DejaVu Sans"/>
              </a:rPr>
              <a:t>MBARARA UNIVERSITY OF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a9bb5"/>
                </a:solidFill>
                <a:effectLst/>
                <a:uFillTx/>
                <a:latin typeface="Calibri"/>
                <a:ea typeface="DejaVu Sans"/>
              </a:rPr>
              <a:t>SCIENCE AND TECHNOLOGY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6629400" y="2788920"/>
            <a:ext cx="2284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f5a623"/>
                </a:solidFill>
                <a:effectLst/>
                <a:uFillTx/>
                <a:latin typeface="Calibri"/>
                <a:ea typeface="DejaVu Sans"/>
              </a:rPr>
              <a:t>DEPARTMENT OF COMPUTER SCIENCE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365760" y="731520"/>
            <a:ext cx="5942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200" b="1" u="none" strike="noStrike">
                <a:solidFill>
                  <a:srgbClr val="f5a623"/>
                </a:solidFill>
                <a:effectLst/>
                <a:uFillTx/>
                <a:latin typeface="Arial Black"/>
                <a:ea typeface="Arial Black"/>
              </a:rPr>
              <a:t>SPECTRAL-UGX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365760" y="1783080"/>
            <a:ext cx="58510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Fourier-Based Counterfeit Banknote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Detection for Uganda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6"/>
          <p:cNvSpPr/>
          <p:nvPr/>
        </p:nvSpPr>
        <p:spPr>
          <a:xfrm>
            <a:off x="365760" y="2697480"/>
            <a:ext cx="5028120" cy="35640"/>
          </a:xfrm>
          <a:prstGeom prst="rect">
            <a:avLst/>
          </a:prstGeom>
          <a:solidFill>
            <a:srgbClr val="f5a623"/>
          </a:solidFill>
          <a:ln w="126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" name="Text 7"/>
          <p:cNvSpPr/>
          <p:nvPr/>
        </p:nvSpPr>
        <p:spPr>
          <a:xfrm>
            <a:off x="365760" y="2834640"/>
            <a:ext cx="5851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8a9b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200" b="0" u="none" strike="noStrike">
                <a:solidFill>
                  <a:srgbClr val="8a9bb5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200" b="0" u="none" strike="noStrike">
                <a:solidFill>
                  <a:srgbClr val="8a9bb5"/>
                </a:solidFill>
                <a:effectLst/>
                <a:uFillTx/>
                <a:latin typeface="Calibri"/>
                <a:ea typeface="Calibri"/>
              </a:rPr>
              <a:t>SPECTRAL _UGX WIZARDS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8"/>
          <p:cNvSpPr/>
          <p:nvPr/>
        </p:nvSpPr>
        <p:spPr>
          <a:xfrm>
            <a:off x="365760" y="324612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AHEREZA NOBERT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3566160" y="324612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5a623"/>
                </a:solidFill>
                <a:effectLst/>
                <a:uFillTx/>
                <a:latin typeface="Calibri"/>
                <a:ea typeface="Calibri"/>
              </a:rPr>
              <a:t>2025/BCS/014/PS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365760" y="357516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KISEMBO STEPHEN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3566160" y="357516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5a623"/>
                </a:solidFill>
                <a:effectLst/>
                <a:uFillTx/>
                <a:latin typeface="Calibri"/>
                <a:ea typeface="Calibri"/>
              </a:rPr>
              <a:t>2025/BCS/100/PS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365760" y="390456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3566160" y="390456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365760" y="423360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3566160" y="423360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365760" y="4563000"/>
            <a:ext cx="3199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3566160" y="456300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0d1b3e"/>
          </a:solidFill>
          <a:ln w="12600">
            <a:solidFill>
              <a:srgbClr val="0d1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	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365760" y="45720"/>
            <a:ext cx="84114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PROJECT IDEA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320040" y="960120"/>
            <a:ext cx="4022280" cy="3519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r="81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320040" y="960120"/>
            <a:ext cx="4022280" cy="456120"/>
          </a:xfrm>
          <a:prstGeom prst="rect">
            <a:avLst/>
          </a:prstGeom>
          <a:solidFill>
            <a:srgbClr val="1a3a6b"/>
          </a:solidFill>
          <a:ln w="126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" name="Text 4"/>
          <p:cNvSpPr/>
          <p:nvPr/>
        </p:nvSpPr>
        <p:spPr>
          <a:xfrm>
            <a:off x="411480" y="978480"/>
            <a:ext cx="38394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PROBLEM STATEMENT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457200" y="1508760"/>
            <a:ext cx="3747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5a623"/>
                </a:solidFill>
                <a:effectLst/>
                <a:uFillTx/>
                <a:latin typeface="Calibri"/>
                <a:ea typeface="Calibri"/>
              </a:rPr>
              <a:t>› </a:t>
            </a:r>
            <a:r>
              <a:rPr lang="en-US" sz="120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Rampant circulation of Counterfeit Ugandan banknotes are a growing threat to the economy.</a:t>
            </a:r>
            <a:br>
              <a:rPr sz="1200"/>
            </a:b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457200" y="2167200"/>
            <a:ext cx="3747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5a623"/>
                </a:solidFill>
                <a:effectLst/>
                <a:uFillTx/>
                <a:latin typeface="Calibri"/>
                <a:ea typeface="Calibri"/>
              </a:rPr>
              <a:t>›  </a:t>
            </a:r>
            <a:r>
              <a:rPr lang="en-US" sz="120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Small scale trader vulnerabilities(shortage of funds to purchase the expensive UV counterfeit detectors).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457200" y="2825640"/>
            <a:ext cx="3747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457200" y="3483720"/>
            <a:ext cx="3747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9"/>
          <p:cNvSpPr/>
          <p:nvPr/>
        </p:nvSpPr>
        <p:spPr>
          <a:xfrm>
            <a:off x="4709160" y="960120"/>
            <a:ext cx="4113720" cy="3519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r="81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" name="Shape 10"/>
          <p:cNvSpPr/>
          <p:nvPr/>
        </p:nvSpPr>
        <p:spPr>
          <a:xfrm>
            <a:off x="4709160" y="960120"/>
            <a:ext cx="4113720" cy="456120"/>
          </a:xfrm>
          <a:prstGeom prst="rect">
            <a:avLst/>
          </a:prstGeom>
          <a:solidFill>
            <a:srgbClr val="f5a623"/>
          </a:solidFill>
          <a:ln w="126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4800600" y="978480"/>
            <a:ext cx="38394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VALUE PROPOSITION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4800600" y="1508760"/>
            <a:ext cx="3930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›  </a:t>
            </a:r>
            <a:r>
              <a:rPr lang="en-US" sz="120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Low cost counterfeit detection that is accessible to small scale traders like mobile money agents, market vendors and small businesses.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3"/>
          <p:cNvSpPr/>
          <p:nvPr/>
        </p:nvSpPr>
        <p:spPr>
          <a:xfrm>
            <a:off x="4800600" y="2167200"/>
            <a:ext cx="3930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›  </a:t>
            </a:r>
            <a:r>
              <a:rPr lang="en-US" sz="120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Available on smart phones that can easily be accessed by most parties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4800600" y="2825640"/>
            <a:ext cx="3930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5"/>
          <p:cNvSpPr/>
          <p:nvPr/>
        </p:nvSpPr>
        <p:spPr>
          <a:xfrm>
            <a:off x="4800600" y="3483720"/>
            <a:ext cx="3930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6"/>
          <p:cNvSpPr/>
          <p:nvPr/>
        </p:nvSpPr>
        <p:spPr>
          <a:xfrm>
            <a:off x="0" y="4663440"/>
            <a:ext cx="9142920" cy="479160"/>
          </a:xfrm>
          <a:prstGeom prst="rect">
            <a:avLst/>
          </a:prstGeom>
          <a:solidFill>
            <a:srgbClr val="0d1b3e"/>
          </a:solidFill>
          <a:ln w="12600">
            <a:solidFill>
              <a:srgbClr val="0d1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" name="Text 17"/>
          <p:cNvSpPr/>
          <p:nvPr/>
        </p:nvSpPr>
        <p:spPr>
          <a:xfrm>
            <a:off x="274320" y="4681800"/>
            <a:ext cx="8685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0d1b3e"/>
          </a:solidFill>
          <a:ln w="12600">
            <a:solidFill>
              <a:srgbClr val="0d1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" name="Text 1"/>
          <p:cNvSpPr/>
          <p:nvPr/>
        </p:nvSpPr>
        <p:spPr>
          <a:xfrm>
            <a:off x="365760" y="45720"/>
            <a:ext cx="84114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LIVE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DEMO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320040" y="914400"/>
            <a:ext cx="4205160" cy="4022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r="81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320040" y="914400"/>
            <a:ext cx="4205160" cy="456120"/>
          </a:xfrm>
          <a:prstGeom prst="rect">
            <a:avLst/>
          </a:prstGeom>
          <a:solidFill>
            <a:srgbClr val="1a3a6b"/>
          </a:solidFill>
          <a:ln w="126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" name="Text 4"/>
          <p:cNvSpPr/>
          <p:nvPr/>
        </p:nvSpPr>
        <p:spPr>
          <a:xfrm>
            <a:off x="411480" y="932760"/>
            <a:ext cx="402228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PIPELINE: IMAGE  →  DECISION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5"/>
          <p:cNvSpPr/>
          <p:nvPr/>
        </p:nvSpPr>
        <p:spPr>
          <a:xfrm>
            <a:off x="411480" y="1463040"/>
            <a:ext cx="1416240" cy="254880"/>
          </a:xfrm>
          <a:prstGeom prst="rect">
            <a:avLst/>
          </a:prstGeom>
          <a:solidFill>
            <a:srgbClr val="1a3a6b"/>
          </a:solidFill>
          <a:ln w="126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" name="Text 6"/>
          <p:cNvSpPr/>
          <p:nvPr/>
        </p:nvSpPr>
        <p:spPr>
          <a:xfrm>
            <a:off x="411480" y="146304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STEP 1 — CAPTURE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411480" y="1737360"/>
            <a:ext cx="3976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A UGX banknote is photographed or uploaded. The system crops the Region of Interest (ROI) and converts it to grayscale.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8"/>
          <p:cNvSpPr/>
          <p:nvPr/>
        </p:nvSpPr>
        <p:spPr>
          <a:xfrm>
            <a:off x="411480" y="2331720"/>
            <a:ext cx="1416240" cy="254880"/>
          </a:xfrm>
          <a:prstGeom prst="rect">
            <a:avLst/>
          </a:prstGeom>
          <a:solidFill>
            <a:srgbClr val="028090"/>
          </a:solidFill>
          <a:ln w="126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" name="Text 9"/>
          <p:cNvSpPr/>
          <p:nvPr/>
        </p:nvSpPr>
        <p:spPr>
          <a:xfrm>
            <a:off x="411480" y="233172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STEP 2 — 2D FFT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411480" y="2606040"/>
            <a:ext cx="3976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2D Fast Fourier Transform decomposes the image: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Converts pixel intensities into frequency components.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1"/>
          <p:cNvSpPr/>
          <p:nvPr/>
        </p:nvSpPr>
        <p:spPr>
          <a:xfrm>
            <a:off x="411480" y="3200400"/>
            <a:ext cx="1416240" cy="254880"/>
          </a:xfrm>
          <a:prstGeom prst="rect">
            <a:avLst/>
          </a:prstGeom>
          <a:solidFill>
            <a:srgbClr val="6d3a9c"/>
          </a:solidFill>
          <a:ln w="12600">
            <a:solidFill>
              <a:srgbClr val="6d3a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411480" y="320040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STEP 3 — RADIAL PSD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411480" y="3474720"/>
            <a:ext cx="3976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Radial Power Spectral Density (</a:t>
            </a:r>
            <a:r>
              <a:rPr lang="en-US" sz="1150" b="0" u="none" strike="noStrike">
                <a:solidFill>
                  <a:srgbClr val="1c1c1c"/>
                </a:solidFill>
                <a:effectLst/>
                <a:uFillTx/>
                <a:latin typeface="Calibri"/>
                <a:ea typeface="Calibri"/>
              </a:rPr>
              <a:t>PSD) is compared against stored denomination profiles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4"/>
          <p:cNvSpPr/>
          <p:nvPr/>
        </p:nvSpPr>
        <p:spPr>
          <a:xfrm>
            <a:off x="411480" y="4069080"/>
            <a:ext cx="1416240" cy="254880"/>
          </a:xfrm>
          <a:prstGeom prst="rect">
            <a:avLst/>
          </a:prstGeom>
          <a:solidFill>
            <a:srgbClr val="f5a623"/>
          </a:solidFill>
          <a:ln w="126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411480" y="406908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STEP 4 — PEARSON MATCH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411480" y="4343400"/>
            <a:ext cx="3976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Bin profile compared to golden profile: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  r ≥ 0.90  →  GENUINE  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  r &lt; 0.90  →  COUNTERFEIT  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7"/>
          <p:cNvSpPr/>
          <p:nvPr/>
        </p:nvSpPr>
        <p:spPr>
          <a:xfrm>
            <a:off x="4709160" y="914400"/>
            <a:ext cx="4159440" cy="4022280"/>
          </a:xfrm>
          <a:prstGeom prst="rect">
            <a:avLst/>
          </a:prstGeom>
          <a:solidFill>
            <a:srgbClr val="0a1628"/>
          </a:solidFill>
          <a:ln w="126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1"/>
          <a:stretch/>
        </p:blipFill>
        <p:spPr>
          <a:xfrm>
            <a:off x="4754880" y="960120"/>
            <a:ext cx="4068000" cy="233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Shape 18"/>
          <p:cNvSpPr/>
          <p:nvPr/>
        </p:nvSpPr>
        <p:spPr>
          <a:xfrm>
            <a:off x="4754880" y="3337560"/>
            <a:ext cx="1964880" cy="593280"/>
          </a:xfrm>
          <a:prstGeom prst="rect">
            <a:avLst/>
          </a:prstGeom>
          <a:solidFill>
            <a:srgbClr val="028090"/>
          </a:solidFill>
          <a:ln w="126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" name="Text 19"/>
          <p:cNvSpPr/>
          <p:nvPr/>
        </p:nvSpPr>
        <p:spPr>
          <a:xfrm>
            <a:off x="4827960" y="3355920"/>
            <a:ext cx="187344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① ROI: note cropped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 &amp; greyscaled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0"/>
          <p:cNvSpPr/>
          <p:nvPr/>
        </p:nvSpPr>
        <p:spPr>
          <a:xfrm>
            <a:off x="6858000" y="3337560"/>
            <a:ext cx="1937520" cy="593280"/>
          </a:xfrm>
          <a:prstGeom prst="rect">
            <a:avLst/>
          </a:prstGeom>
          <a:solidFill>
            <a:srgbClr val="6d3a9c"/>
          </a:solidFill>
          <a:ln w="12600">
            <a:solidFill>
              <a:srgbClr val="6d3a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6931080" y="3355920"/>
            <a:ext cx="184608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② 64-bin Fourier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 frequency peaks plotted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2"/>
          <p:cNvSpPr/>
          <p:nvPr/>
        </p:nvSpPr>
        <p:spPr>
          <a:xfrm>
            <a:off x="4754880" y="4041720"/>
            <a:ext cx="1964880" cy="593280"/>
          </a:xfrm>
          <a:prstGeom prst="rect">
            <a:avLst/>
          </a:prstGeom>
          <a:solidFill>
            <a:srgbClr val="1a3a6b"/>
          </a:solidFill>
          <a:ln w="126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3" name="Text 23"/>
          <p:cNvSpPr/>
          <p:nvPr/>
        </p:nvSpPr>
        <p:spPr>
          <a:xfrm>
            <a:off x="4827960" y="4060080"/>
            <a:ext cx="187344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③ Low/Mid/High freq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 band averages computed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4"/>
          <p:cNvSpPr/>
          <p:nvPr/>
        </p:nvSpPr>
        <p:spPr>
          <a:xfrm>
            <a:off x="6858000" y="4041720"/>
            <a:ext cx="1937520" cy="59328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" name="Text 25"/>
          <p:cNvSpPr/>
          <p:nvPr/>
        </p:nvSpPr>
        <p:spPr>
          <a:xfrm>
            <a:off x="6931080" y="4060080"/>
            <a:ext cx="184608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④ 79.2% similarity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 → FLAGGED COUNTERFEIT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6"/>
          <p:cNvSpPr/>
          <p:nvPr/>
        </p:nvSpPr>
        <p:spPr>
          <a:xfrm>
            <a:off x="0" y="4827960"/>
            <a:ext cx="9142920" cy="314280"/>
          </a:xfrm>
          <a:prstGeom prst="rect">
            <a:avLst/>
          </a:prstGeom>
          <a:solidFill>
            <a:srgbClr val="0d1b3e"/>
          </a:solidFill>
          <a:ln w="12600">
            <a:solidFill>
              <a:srgbClr val="0d1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" name="Text 27"/>
          <p:cNvSpPr/>
          <p:nvPr/>
        </p:nvSpPr>
        <p:spPr>
          <a:xfrm>
            <a:off x="274320" y="4827960"/>
            <a:ext cx="859428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5a623"/>
                </a:solidFill>
                <a:effectLst/>
                <a:uFillTx/>
                <a:latin typeface="Calibri"/>
                <a:ea typeface="Calibri"/>
              </a:rPr>
              <a:t>Key insight: genuine notes share nearly identical Fourier spectra — counterfeits deviate in frequency amplitude, revealing themselves mathematically.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4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0d1b3e"/>
          </a:solidFill>
          <a:ln w="12600">
            <a:solidFill>
              <a:srgbClr val="0d1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365760" y="45720"/>
            <a:ext cx="84114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ALIGNMENT WITH  SUSTAINABLE DEVELOPMENT GOALS (SDGs)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0"/>
          <p:cNvSpPr/>
          <p:nvPr/>
        </p:nvSpPr>
        <p:spPr>
          <a:xfrm>
            <a:off x="411480" y="932760"/>
            <a:ext cx="54756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2"/>
          <p:cNvSpPr/>
          <p:nvPr/>
        </p:nvSpPr>
        <p:spPr>
          <a:xfrm>
            <a:off x="914400" y="951120"/>
            <a:ext cx="20563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IMAGE → FREQUENCY DOMAIN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4"/>
          <p:cNvSpPr/>
          <p:nvPr/>
        </p:nvSpPr>
        <p:spPr>
          <a:xfrm>
            <a:off x="457200" y="1572840"/>
            <a:ext cx="246780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>
            <a:off x="42840" y="914400"/>
            <a:ext cx="8902080" cy="3841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r="81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  <a:p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" name="Text 26"/>
          <p:cNvSpPr/>
          <p:nvPr/>
        </p:nvSpPr>
        <p:spPr>
          <a:xfrm>
            <a:off x="3291840" y="932760"/>
            <a:ext cx="54756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8"/>
          <p:cNvSpPr/>
          <p:nvPr/>
        </p:nvSpPr>
        <p:spPr>
          <a:xfrm>
            <a:off x="3337560" y="1572840"/>
            <a:ext cx="246780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9"/>
          <p:cNvSpPr/>
          <p:nvPr/>
        </p:nvSpPr>
        <p:spPr>
          <a:xfrm>
            <a:off x="6172200" y="932760"/>
            <a:ext cx="54756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6675120" y="951120"/>
            <a:ext cx="20563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PEARSON CORRELATION MATCH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1"/>
          <p:cNvSpPr/>
          <p:nvPr/>
        </p:nvSpPr>
        <p:spPr>
          <a:xfrm>
            <a:off x="6217920" y="1572840"/>
            <a:ext cx="246780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2"/>
          <p:cNvSpPr/>
          <p:nvPr/>
        </p:nvSpPr>
        <p:spPr>
          <a:xfrm>
            <a:off x="320040" y="4983480"/>
            <a:ext cx="8502840" cy="1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8a9bb5"/>
                </a:solidFill>
                <a:effectLst/>
                <a:uFillTx/>
                <a:latin typeface="Calibri"/>
                <a:ea typeface="Calibri"/>
              </a:rPr>
              <a:t>Frequency spectrum comparison: Input Note (red) vs. Golden Profile (blue) — 64 radial bins, log-magnitude scale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14480" y="1004760"/>
            <a:ext cx="8781480" cy="375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200" b="1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SDG 8: DECENT </a:t>
            </a:r>
            <a:r>
              <a:rPr lang="en-US" sz="1200" b="1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WORK AND </a:t>
            </a:r>
            <a:r>
              <a:rPr lang="en-US" sz="1200" b="1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ECONOMIC </a:t>
            </a:r>
            <a:r>
              <a:rPr lang="en-US" sz="1200" b="1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GROWTH</a:t>
            </a:r>
            <a:br>
              <a:rPr sz="1200"/>
            </a:b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Counterfeit money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harms businesses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 local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economies, our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 supports: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Secure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commerce,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Business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confidence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Reduced fraud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losses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200"/>
            </a:b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SDG 1: NO </a:t>
            </a:r>
            <a:r>
              <a:rPr lang="en-US" sz="1200" b="1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POVERTY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Counterfeit money is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 regressive tax on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poor. Wealthy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institutions have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insurance and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advanced scanners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while the poor do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200"/>
            </a:br>
            <a:r>
              <a:rPr lang="en-US" sz="1200" b="1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SDG 9: INDUSTRY, </a:t>
            </a:r>
            <a:r>
              <a:rPr lang="en-US" sz="1200" b="1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INNOVATION AND </a:t>
            </a:r>
            <a:r>
              <a:rPr lang="en-US" sz="1200" b="1" u="sng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INFRASTRUCTURE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project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promotes: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Technological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innovation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Local research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 development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0d1b3e"/>
          </a:solidFill>
          <a:ln w="12600">
            <a:solidFill>
              <a:srgbClr val="0d1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365760" y="45720"/>
            <a:ext cx="84114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CONCLUSION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228600" y="914400"/>
            <a:ext cx="4113720" cy="3290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r="81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320040" y="914400"/>
            <a:ext cx="4113720" cy="456120"/>
          </a:xfrm>
          <a:prstGeom prst="rect">
            <a:avLst/>
          </a:prstGeom>
          <a:solidFill>
            <a:srgbClr val="1a3a6b"/>
          </a:solidFill>
          <a:ln w="126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" name="Text 4"/>
          <p:cNvSpPr/>
          <p:nvPr/>
        </p:nvSpPr>
        <p:spPr>
          <a:xfrm>
            <a:off x="411480" y="932760"/>
            <a:ext cx="39308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WE ACHIEVED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457200" y="146304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20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Built a working web app (SPECTRAL-UGX) for UGX banknote verification.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457200" y="279792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20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Pearson correlation threshold (≥ 90%) successfully flags suspicious notes.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457200" y="346572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20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Supports UGX 1K,2K,5K,10K,20K and 50k denominations with stored profiles.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9"/>
          <p:cNvSpPr/>
          <p:nvPr/>
        </p:nvSpPr>
        <p:spPr>
          <a:xfrm>
            <a:off x="4709160" y="914400"/>
            <a:ext cx="4113720" cy="3290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r="81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Link to the website: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https://spectral-note-scan.base44.app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4800600" y="932760"/>
            <a:ext cx="39308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4800600" y="146304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4800600" y="213048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4800600" y="279792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" name="Text 15"/>
          <p:cNvSpPr/>
          <p:nvPr/>
        </p:nvSpPr>
        <p:spPr>
          <a:xfrm>
            <a:off x="4800600" y="346572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5" name="Shape 16"/>
          <p:cNvSpPr/>
          <p:nvPr/>
        </p:nvSpPr>
        <p:spPr>
          <a:xfrm>
            <a:off x="254160" y="4283640"/>
            <a:ext cx="8568720" cy="708120"/>
          </a:xfrm>
          <a:prstGeom prst="rect">
            <a:avLst/>
          </a:prstGeom>
          <a:solidFill>
            <a:srgbClr val="0d1b3e"/>
          </a:solidFill>
          <a:ln w="12600">
            <a:solidFill>
              <a:srgbClr val="0d1b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Presented by:  SPECTRAL_UGX WIZARDS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" name="Picture 130"/>
          <p:cNvPicPr/>
          <p:nvPr/>
        </p:nvPicPr>
        <p:blipFill>
          <a:blip r:embed="rId1"/>
          <a:stretch/>
        </p:blipFill>
        <p:spPr>
          <a:xfrm rot="21575400">
            <a:off x="1027080" y="2059560"/>
            <a:ext cx="658440" cy="68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131"/>
          <p:cNvPicPr/>
          <p:nvPr/>
        </p:nvPicPr>
        <p:blipFill>
          <a:blip r:embed="rId2"/>
          <a:stretch/>
        </p:blipFill>
        <p:spPr>
          <a:xfrm>
            <a:off x="4800600" y="1780920"/>
            <a:ext cx="1179000" cy="242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132"/>
          <p:cNvPicPr/>
          <p:nvPr/>
        </p:nvPicPr>
        <p:blipFill>
          <a:blip r:embed="rId3"/>
          <a:stretch/>
        </p:blipFill>
        <p:spPr>
          <a:xfrm>
            <a:off x="6620760" y="1815840"/>
            <a:ext cx="2019240" cy="206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Application>LibreOffice/25.8.6.2$Linux_X86_64 LibreOffice_project/a46b460d1686bb49c718d2ef5f88b83ff2dc4981</Application>
  <AppVersion>15.0000</AppVersion>
  <Words>3275</Words>
  <Paragraphs>153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2026-05-06T09:01:44Z</dcterms:created>
  <dc:creator>PptxGenJS</dc:creator>
  <dc:description/>
  <dc:language>en-US</dc:language>
  <cp:lastModifiedBy/>
  <dcterms:modified xsi:type="dcterms:W3CDTF">2026-05-14T10:10:57Z</dcterms:modified>
  <cp:revision>11</cp:revision>
  <dc:subject>PptxGenJS Presentation</dc:subject>
  <dc:title>SPECTRAL-UGX: Counterfeit Banknote Detection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  <property fmtid="{D5CDD505-2E9C-101B-9397-08002B2CF9AE}" pid="3" name="Notes">
    <vt:r8>6</vt:r8>
  </property>
  <property fmtid="{D5CDD505-2E9C-101B-9397-08002B2CF9AE}" pid="4" name="PresentationFormat">
    <vt:lpwstr>On-screen Show (16:9)</vt:lpwstr>
  </property>
  <property fmtid="{D5CDD505-2E9C-101B-9397-08002B2CF9AE}" pid="5" name="Slides">
    <vt:i4>6</vt:i4>
  </property>
</Properties>
</file>